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e73dc40bad4745" /><Relationship Type="http://schemas.openxmlformats.org/officeDocument/2006/relationships/extended-properties" Target="/docProps/app.xml" Id="Rab37631b6c3147ad" /><Relationship Type="http://schemas.openxmlformats.org/officeDocument/2006/relationships/officeDocument" Target="/ppt/presentation.xml" Id="Re80e09c15e6d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a4b2396de4222"/>
  </p:sldMasterIdLst>
  <p:notesMasterIdLst>
    <p:notesMasterId xmlns:r="http://schemas.openxmlformats.org/officeDocument/2006/relationships" r:id="Raaeb388d847d4cb4"/>
  </p:notesMasterIdLst>
  <p:sldIdLst>
    <p:sldId xmlns:r="http://schemas.openxmlformats.org/officeDocument/2006/relationships" id="256" r:id="R817005d755ca42f0"/>
    <p:sldId xmlns:r="http://schemas.openxmlformats.org/officeDocument/2006/relationships" id="257" r:id="R99bbf296b0ca470b"/>
  </p:sldIdLst>
  <p:sldSz cx="10972800" cy="3429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6a1e3e33d4ca0" /><Relationship Type="http://schemas.openxmlformats.org/officeDocument/2006/relationships/slideMaster" Target="/ppt/slideMasters/slideMaster1.xml" Id="Re9ca4b2396de4222" /><Relationship Type="http://schemas.openxmlformats.org/officeDocument/2006/relationships/notesMaster" Target="/ppt/notesMasters/notesMaster1.xml" Id="Raaeb388d847d4cb4" /><Relationship Type="http://schemas.openxmlformats.org/officeDocument/2006/relationships/presProps" Target="/ppt/presProps.xml" Id="R6aa2eb40b37044e5" /><Relationship Type="http://schemas.openxmlformats.org/officeDocument/2006/relationships/tableStyles" Target="/ppt/tableStyles.xml" Id="Rceb04646f32840f2" /><Relationship Type="http://schemas.openxmlformats.org/officeDocument/2006/relationships/slide" Target="/ppt/slides/slide1.xml" Id="R817005d755ca42f0" /><Relationship Type="http://schemas.openxmlformats.org/officeDocument/2006/relationships/slide" Target="/ppt/slides/slide2.xml" Id="R99bbf296b0ca47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0cdf9e58f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8ac4a21dd547e5" /><Relationship Type="http://schemas.openxmlformats.org/officeDocument/2006/relationships/notesMaster" Target="/ppt/notesMasters/notesMaster1.xml" Id="R73c6d77da1804f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4ef6788374ed2" /><Relationship Type="http://schemas.openxmlformats.org/officeDocument/2006/relationships/notesMaster" Target="/ppt/notesMasters/notesMaster1.xml" Id="R41590f29958940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68b427595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6f2d993c84bef" /><Relationship Type="http://schemas.openxmlformats.org/officeDocument/2006/relationships/slideLayout" Target="/ppt/slideLayouts/slideLayout1.xml" Id="R182a4a6db46d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a4a6db46d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ce6cbea9844ab" /><Relationship Type="http://schemas.openxmlformats.org/officeDocument/2006/relationships/notesSlide" Target="/ppt/notesSlides/notesSlide1.xml" Id="Rf7f8a0635aaa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3cfaefdf94a3a" /><Relationship Type="http://schemas.openxmlformats.org/officeDocument/2006/relationships/notesSlide" Target="/ppt/notesSlides/notesSlide2.xml" Id="R7a554dcd7690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terprise-workspace-panel">
            <a:extLst xmlns:a="http://schemas.openxmlformats.org/drawingml/2006/main">
              <a:ext uri="{FF2B5EF4-FFF2-40B4-BE49-F238E27FC236}">
                <a16:creationId xmlns:a16="http://schemas.microsoft.com/office/drawing/2014/main" id="{9C7AA5B4-D79A-4F0B-B881-04B93C10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337185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" name="benchmark-abstraction-panel">
            <a:extLst xmlns:a="http://schemas.openxmlformats.org/drawingml/2006/main">
              <a:ext uri="{FF2B5EF4-FFF2-40B4-BE49-F238E27FC236}">
                <a16:creationId xmlns:a16="http://schemas.microsoft.com/office/drawing/2014/main" id="{B602F62B-7387-4F1F-B33A-3A1EBA9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"/>
            <a:ext cx="676275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cxnSp>
        <p:nvCxnSpPr>
          <p:cNvPr id="106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638550" y="16573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6951A-FF80-469A-8ADD-0304F268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Enterprise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5B9F1-C67F-4A6A-BCDA-8D5EF663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WorkSurface-Bench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18E74-904E-45D5-90EF-F2C1208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28F91-8258-41DB-8911-9B26565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BD34B-1137-466E-97C0-3FAF348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334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C75B2-8F94-4B0B-9916-65DCC332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96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B9045-6E7A-491C-982F-D22D877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DABB3-3239-48C3-8D0D-FC8EB601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C5E1C-59BC-4D92-9C7B-2DDAABB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A2671-F7E8-40C2-8970-C93D13E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667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3F09-BCB0-4A81-8207-48EB0D58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0010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9733E-18D3-44AC-B518-B3F9EC0E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429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F7745-E256-43DC-A4B5-42BA96D5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0010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8F13B-6241-44EB-A3FB-982E65E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810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31F18-8ED9-4E6F-8326-95EBDEE1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81050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FA003-70FF-4783-BDD6-3B9190F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810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5EEC0-0911-455A-89BC-C6E3CB7D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9239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BF788-36C0-43F1-A23E-F1CA986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0953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697C7-14AF-4B8E-A1D0-244A6054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ED12F-ADCB-4449-9567-340964F1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E5886-5687-411C-887A-CA7F2D0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742C3-249D-40E5-B281-EE12EF7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716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411E1-5FC9-468E-AE65-BB744552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68114-49CC-420E-9409-626B58E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716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FE03B-9F4A-46D9-A8E1-3C38422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752A0-DADA-4173-82EF-31CC49A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62075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E78FD-3E3B-4190-9998-FF30F2BF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620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87670-13A0-4014-9BEA-85A89FA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14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A2B873-A51D-4BB4-A8E1-EB18AF7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906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A0062-5337-4AE3-82A8-DDAC329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764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DDECA-95F2-43EB-9DA8-4B7B8372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28750"/>
            <a:ext cx="5143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4B909F-43D1-4D94-B7DC-C25288C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287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A681D7-17F6-4D18-96B3-D248894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6063A5-A325-4429-A936-9FA2ADB0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430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REF</a:t>
            </a:r>
          </a:p>
        </p:txBody>
      </p:sp>
      <p:cxnSp>
        <p:nvCxnSpPr>
          <p:cNvPr id="141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162050" y="904875"/>
            <a:ext cx="21907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2" name=""/>
          <p:cNvCxnSpPr>
            <a:stCxn xmlns:a="http://schemas.openxmlformats.org/drawingml/2006/main" id="11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895475" y="904875"/>
            <a:ext cx="40957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3" name=""/>
          <p:cNvCxnSpPr>
            <a:stCxn xmlns:a="http://schemas.openxmlformats.org/drawingml/2006/main" id="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04875" y="1257300"/>
            <a:ext cx="2476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4" name=""/>
          <p:cNvCxnSpPr>
            <a:stCxn xmlns:a="http://schemas.openxmlformats.org/drawingml/2006/main" id="1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638300" y="1143000"/>
            <a:ext cx="333375" cy="219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5" name=""/>
          <p:cNvCxnSpPr>
            <a:stCxn xmlns:a="http://schemas.openxmlformats.org/drawingml/2006/main" id="18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2562225" y="1257300"/>
            <a:ext cx="3143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6" name=""/>
          <p:cNvCxnSpPr>
            <a:stCxn xmlns:a="http://schemas.openxmlformats.org/drawingml/2006/main" id="22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1409700" y="1600200"/>
            <a:ext cx="3048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cxnSp>
        <p:nvCxnSpPr>
          <p:cNvPr id="147" name=""/>
          <p:cNvCxnSpPr>
            <a:stCxn xmlns:a="http://schemas.openxmlformats.org/drawingml/2006/main" id="2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228850" y="1600200"/>
            <a:ext cx="390525" cy="666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dash"/>
          </a:ln>
        </p:spPr>
      </p:cxnSp>
      <p:sp>
        <p:nvSpPr>
          <p:cNvPr id="45" name="workflow-question-bubble">
            <a:extLst xmlns:a="http://schemas.openxmlformats.org/drawingml/2006/main">
              <a:ext uri="{FF2B5EF4-FFF2-40B4-BE49-F238E27FC236}">
                <a16:creationId xmlns:a16="http://schemas.microsoft.com/office/drawing/2014/main" id="{EC6C23B1-C1AB-4F18-AE98-E9C62D9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29146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6F64AC-E010-483B-A5EA-73D0EF4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"According to the inventory report,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how many items have negative variance,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840" b="0" i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and what is their total cost per shipping mode?"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02FA2A-EE7D-4F70-903B-3148AE1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863" b="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63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one question - many surfaces needed</a:t>
            </a:r>
          </a:p>
        </p:txBody>
      </p:sp>
      <p:sp>
        <p:nvSpPr>
          <p:cNvPr id="48" name="surface-rag-card">
            <a:extLst xmlns:a="http://schemas.openxmlformats.org/drawingml/2006/main">
              <a:ext uri="{FF2B5EF4-FFF2-40B4-BE49-F238E27FC236}">
                <a16:creationId xmlns:a16="http://schemas.microsoft.com/office/drawing/2014/main" id="{818FF891-5EFA-4CD3-B868-607355BC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429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7145">
            <a:solidFill>
              <a:srgbClr val="3B82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44763E-3B27-42FE-A6E5-2672BF9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429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FE023B-BA89-4730-8B1F-DEDCD2A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952500"/>
            <a:ext cx="247650" cy="304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69D48D-DAF9-41D1-B199-A1217A0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038225"/>
            <a:ext cx="152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D36E45-5435-468B-94F0-A944E1DB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04900"/>
            <a:ext cx="133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366AB4-7E76-47E2-9800-B36E8915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71575"/>
            <a:ext cx="104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84F890-8765-4230-AB37-699B246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239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B82F6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59B9DE-B59C-4384-BF8E-B39D959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52525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kb_search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9AE230-BFB2-41BE-B7D2-6E54BE1B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0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documents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canonical text</a:t>
            </a:r>
          </a:p>
        </p:txBody>
      </p:sp>
      <p:sp>
        <p:nvSpPr>
          <p:cNvPr id="57" name="surface-table-card">
            <a:extLst xmlns:a="http://schemas.openxmlformats.org/drawingml/2006/main">
              <a:ext uri="{FF2B5EF4-FFF2-40B4-BE49-F238E27FC236}">
                <a16:creationId xmlns:a16="http://schemas.microsoft.com/office/drawing/2014/main" id="{DF3A51C3-3E11-434F-8629-327FE87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429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7145">
            <a:solidFill>
              <a:srgbClr val="F59E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D0BBEE-CCBA-4F20-821F-F1656F2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429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411298-1E6A-4A72-BF7E-E418E92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247650" cy="304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8AE59E-2CD3-44E1-9508-4453E5D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38225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578997-D654-4EF6-8899-2E3B1618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3822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C9DF85-6A8A-493A-8247-68999FB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104900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BE8FED-9B57-4112-959B-6EE73F5A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3822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666B44-24A6-405D-ABA7-FB75E17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171575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691816-1AB9-47B9-AA8B-7EC048CF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03822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343226-2B6A-4927-AD23-856F2677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9239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CF7884-F5D0-4DF6-9E0B-57D3A22D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52525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table_query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9A9DF8-8196-4165-A138-A434EBB4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0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DuckDB views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per-task registry</a:t>
            </a:r>
          </a:p>
        </p:txBody>
      </p:sp>
      <p:sp>
        <p:nvSpPr>
          <p:cNvPr id="69" name="surface-graph-card">
            <a:extLst xmlns:a="http://schemas.openxmlformats.org/drawingml/2006/main">
              <a:ext uri="{FF2B5EF4-FFF2-40B4-BE49-F238E27FC236}">
                <a16:creationId xmlns:a16="http://schemas.microsoft.com/office/drawing/2014/main" id="{2D980F13-0E64-4016-B9C1-957A38C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429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7145">
            <a:solidFill>
              <a:srgbClr val="10B98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B7463F-BD98-45B9-A10D-5278B0E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429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B9D650-8E6C-4307-B75F-7C438B88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01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557CA4-8F6A-4D54-9D33-9EF45441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FE70C6-C137-4519-A49B-7B719E2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16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cxnSp>
        <p:nvCxnSpPr>
          <p:cNvPr id="177" name=""/>
          <p:cNvCxnSpPr>
            <a:stCxn xmlns:a="http://schemas.openxmlformats.org/drawingml/2006/main" id="71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8763000" y="1028700"/>
            <a:ext cx="666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cxnSp>
        <p:nvCxnSpPr>
          <p:cNvPr id="178" name=""/>
          <p:cNvCxnSpPr>
            <a:stCxn xmlns:a="http://schemas.openxmlformats.org/drawingml/2006/main" id="72" idx="4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8839200" y="1066800"/>
            <a:ext cx="28575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cxnSp>
        <p:nvCxnSpPr>
          <p:cNvPr id="179" name=""/>
          <p:cNvCxnSpPr>
            <a:stCxn xmlns:a="http://schemas.openxmlformats.org/drawingml/2006/main" id="71" idx="5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8751841" y="1084216"/>
            <a:ext cx="60418" cy="8899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37CFF0-55F3-448F-8F75-526A724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239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7AFBA9-644C-436F-AA5A-E62C2D5D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52525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graph_*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A42D61-F3CA-4D6B-B8CF-CC8387E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0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file lineage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enriched edges</a:t>
            </a:r>
          </a:p>
        </p:txBody>
      </p:sp>
      <p:sp>
        <p:nvSpPr>
          <p:cNvPr id="80" name="agent">
            <a:extLst xmlns:a="http://schemas.openxmlformats.org/drawingml/2006/main">
              <a:ext uri="{FF2B5EF4-FFF2-40B4-BE49-F238E27FC236}">
                <a16:creationId xmlns:a16="http://schemas.microsoft.com/office/drawing/2014/main" id="{08AFA861-D53C-44C1-8A29-64F6EED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43125"/>
            <a:ext cx="1009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5240">
            <a:solidFill>
              <a:srgbClr val="37415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A771F0-E811-4208-A31B-BAD4B0D1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7415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2FBABD-2E9A-4F8E-9A4D-7CA6186E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5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74151"/>
            </a:solidFill>
            <a:prstDash val="solid"/>
          </a:ln>
        </p:spPr>
      </p:sp>
      <p:cxnSp>
        <p:nvCxnSpPr>
          <p:cNvPr id="186" name=""/>
          <p:cNvCxnSpPr>
            <a:stCxn xmlns:a="http://schemas.openxmlformats.org/drawingml/2006/main" id="48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248275" y="1847850"/>
            <a:ext cx="12382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9CA3AF"/>
            </a:solidFill>
            <a:prstDash val="solid"/>
            <a:tailEnd type="triangle" w="sm" len="sm"/>
          </a:ln>
        </p:spPr>
      </p:cxnSp>
      <p:cxnSp>
        <p:nvCxnSpPr>
          <p:cNvPr id="187" name=""/>
          <p:cNvCxnSpPr>
            <a:stCxn xmlns:a="http://schemas.openxmlformats.org/drawingml/2006/main" id="57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6486525" y="1847850"/>
            <a:ext cx="83820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9CA3AF"/>
            </a:solidFill>
            <a:prstDash val="solid"/>
            <a:tailEnd type="triangle" w="sm" len="sm"/>
          </a:ln>
        </p:spPr>
      </p:cxnSp>
      <p:cxnSp>
        <p:nvCxnSpPr>
          <p:cNvPr id="188" name=""/>
          <p:cNvCxnSpPr>
            <a:stCxn xmlns:a="http://schemas.openxmlformats.org/drawingml/2006/main" id="6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6486525" y="1847850"/>
            <a:ext cx="29146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9CA3AF"/>
            </a:solidFill>
            <a:prstDash val="solid"/>
            <a:tailEnd type="triangle" w="sm" len="sm"/>
          </a:ln>
        </p:spPr>
      </p:cxnSp>
      <p:sp>
        <p:nvSpPr>
          <p:cNvPr id="86" name="route-score-slot">
            <a:extLst xmlns:a="http://schemas.openxmlformats.org/drawingml/2006/main">
              <a:ext uri="{FF2B5EF4-FFF2-40B4-BE49-F238E27FC236}">
                <a16:creationId xmlns:a16="http://schemas.microsoft.com/office/drawing/2014/main" id="{61579EFB-3DFC-4BF1-860E-2508735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1811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383">
            <a:solidFill>
              <a:srgbClr val="374151"/>
            </a:solidFill>
            <a:prstDash val="solid"/>
          </a:ln>
        </p:spPr>
      </p:sp>
      <p:sp>
        <p:nvSpPr>
          <p:cNvPr id="87" name="answer-score-slot">
            <a:extLst xmlns:a="http://schemas.openxmlformats.org/drawingml/2006/main">
              <a:ext uri="{FF2B5EF4-FFF2-40B4-BE49-F238E27FC236}">
                <a16:creationId xmlns:a16="http://schemas.microsoft.com/office/drawing/2014/main" id="{BAB5BFBA-097A-4CAA-BD5A-6EBE5C19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1811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383">
            <a:solidFill>
              <a:srgbClr val="37415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3159C60-715A-4F6E-B2C9-4B1C18E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75D2C0-F73B-47CA-945D-2FA93EC2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5267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chose right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surface?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A7CE4A-631C-43BE-B0B4-A65B4B7B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8605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P/R/F1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F92D4D-CC3B-41B6-ADFE-70A7C911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D79727-8B17-4C8A-A176-47C8DEA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5267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final response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correct?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B82A2A9-7D3C-40FA-9429-8F8C465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2A271E-85BC-4B64-A2D7-7CDBF21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333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9CA3A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CDB5047-43C1-4B19-96B6-5B34069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20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20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scored separately</a:t>
            </a:r>
          </a:p>
        </p:txBody>
      </p:sp>
      <p:sp>
        <p:nvSpPr>
          <p:cNvPr id="96" name="agent-score-out">
            <a:extLst xmlns:a="http://schemas.openxmlformats.org/drawingml/2006/main">
              <a:ext uri="{FF2B5EF4-FFF2-40B4-BE49-F238E27FC236}">
                <a16:creationId xmlns:a16="http://schemas.microsoft.com/office/drawing/2014/main" id="{E1265774-4DDF-4A5E-A902-919FD91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23669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score-fork">
            <a:extLst xmlns:a="http://schemas.openxmlformats.org/drawingml/2006/main">
              <a:ext uri="{FF2B5EF4-FFF2-40B4-BE49-F238E27FC236}">
                <a16:creationId xmlns:a16="http://schemas.microsoft.com/office/drawing/2014/main" id="{B24DDAD1-E5D3-4276-958F-E641BD83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38" y="19288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route-top-entry">
            <a:extLst xmlns:a="http://schemas.openxmlformats.org/drawingml/2006/main">
              <a:ext uri="{FF2B5EF4-FFF2-40B4-BE49-F238E27FC236}">
                <a16:creationId xmlns:a16="http://schemas.microsoft.com/office/drawing/2014/main" id="{93D2B7C7-7FD5-43B7-9F9C-F05BCC6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052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answer-top-entry">
            <a:extLst xmlns:a="http://schemas.openxmlformats.org/drawingml/2006/main">
              <a:ext uri="{FF2B5EF4-FFF2-40B4-BE49-F238E27FC236}">
                <a16:creationId xmlns:a16="http://schemas.microsoft.com/office/drawing/2014/main" id="{B7C6911F-709D-4A8B-AC00-CE390D2C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638" y="2052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96" idx="7"/>
            <a:endCxn xmlns:a="http://schemas.openxmlformats.org/drawingml/2006/main" id="97" idx="3"/>
          </p:cNvCxnSpPr>
          <p:nvPr/>
        </p:nvCxnSpPr>
        <p:spPr>
          <a:xfrm xmlns:a="http://schemas.openxmlformats.org/drawingml/2006/main" flipV="1">
            <a:off x="6994718" y="1936943"/>
            <a:ext cx="240915" cy="43141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4151"/>
            </a:solidFill>
            <a:prstDash val="solid"/>
          </a:ln>
        </p:spPr>
      </p:cxnSp>
      <p:cxnSp>
        <p:nvCxnSpPr>
          <p:cNvPr id="204" name=""/>
          <p:cNvCxnSpPr>
            <a:stCxn xmlns:a="http://schemas.openxmlformats.org/drawingml/2006/main" id="97" idx="5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7242368" y="1936943"/>
            <a:ext cx="869565" cy="11709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74151"/>
            </a:solidFill>
            <a:prstDash val="solid"/>
            <a:tailEnd type="triangle" w="sm" len="sm"/>
          </a:ln>
        </p:spPr>
      </p:cxnSp>
      <p:cxnSp>
        <p:nvCxnSpPr>
          <p:cNvPr id="205" name=""/>
          <p:cNvCxnSpPr>
            <a:stCxn xmlns:a="http://schemas.openxmlformats.org/drawingml/2006/main" id="97" idx="5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7242368" y="1936943"/>
            <a:ext cx="2431665" cy="11709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7415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00B8B0-1110-4607-ADBF-837AE56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592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Agents must route to the right knowledge surface before they can answer.</a:t>
            </a:r>
          </a:p>
        </p:txBody>
      </p:sp>
    </p:spTree>
    <p:extLst>
      <p:ext uri="{BB962C8B-B14F-4D97-AF65-F5344CB8AC3E}">
        <p14:creationId xmlns:p14="http://schemas.microsoft.com/office/powerpoint/2010/main" val="1216869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8C3BD-D4AC-43A0-A675-57EFE4F6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Benchmark construction keeps gold answers auditable</a:t>
            </a:r>
          </a:p>
        </p:txBody>
      </p:sp>
      <p:sp>
        <p:nvSpPr>
          <p:cNvPr id="2" name="stage-1">
            <a:extLst xmlns:a="http://schemas.openxmlformats.org/drawingml/2006/main">
              <a:ext uri="{FF2B5EF4-FFF2-40B4-BE49-F238E27FC236}">
                <a16:creationId xmlns:a16="http://schemas.microsoft.com/office/drawing/2014/main" id="{617C95EC-F10C-4053-A177-22E7DE7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5775"/>
            <a:ext cx="1809750" cy="2047875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4474E-B5E9-43A9-9E8C-E8706D97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0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DE64A-563B-4A35-A9DC-A4FD167E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5" name="stage-2">
            <a:extLst xmlns:a="http://schemas.openxmlformats.org/drawingml/2006/main">
              <a:ext uri="{FF2B5EF4-FFF2-40B4-BE49-F238E27FC236}">
                <a16:creationId xmlns:a16="http://schemas.microsoft.com/office/drawing/2014/main" id="{24EEAB28-77D1-4B6E-8469-12094EE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"/>
            <a:ext cx="1809750" cy="2047875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6C0D0-BB0F-48A8-A4C8-70C12A79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00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D36E3-5428-470C-B05C-8E67270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Surfaces</a:t>
            </a:r>
          </a:p>
        </p:txBody>
      </p:sp>
      <p:sp>
        <p:nvSpPr>
          <p:cNvPr id="8" name="stage-3">
            <a:extLst xmlns:a="http://schemas.openxmlformats.org/drawingml/2006/main">
              <a:ext uri="{FF2B5EF4-FFF2-40B4-BE49-F238E27FC236}">
                <a16:creationId xmlns:a16="http://schemas.microsoft.com/office/drawing/2014/main" id="{EEC42D25-72AF-4FA6-B115-3423816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"/>
            <a:ext cx="1809750" cy="2047875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3741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47D80-D560-4546-B257-416345CD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0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93B12-DEBC-4698-81FF-32FB5FB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Derive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(det.)</a:t>
            </a:r>
          </a:p>
        </p:txBody>
      </p:sp>
      <p:sp>
        <p:nvSpPr>
          <p:cNvPr id="11" name="stage-4">
            <a:extLst xmlns:a="http://schemas.openxmlformats.org/drawingml/2006/main">
              <a:ext uri="{FF2B5EF4-FFF2-40B4-BE49-F238E27FC236}">
                <a16:creationId xmlns:a16="http://schemas.microsoft.com/office/drawing/2014/main" id="{C7AF62A0-89DE-4FD2-A9EF-BA659E0F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"/>
            <a:ext cx="1809750" cy="2047875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3741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3E39-8CC4-4173-9A94-8B3ECA0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600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3177D-A6D4-4930-ACFD-1E9DB83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0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Expand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(LLM)</a:t>
            </a:r>
          </a:p>
        </p:txBody>
      </p:sp>
      <p:sp>
        <p:nvSpPr>
          <p:cNvPr id="14" name="stage-5">
            <a:extLst xmlns:a="http://schemas.openxmlformats.org/drawingml/2006/main">
              <a:ext uri="{FF2B5EF4-FFF2-40B4-BE49-F238E27FC236}">
                <a16:creationId xmlns:a16="http://schemas.microsoft.com/office/drawing/2014/main" id="{4C883B84-3D5B-4CB5-8784-1A8F96E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"/>
            <a:ext cx="1809750" cy="2047875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587FC-FFB6-4EAA-82D8-2CE8E4B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00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F6D5-5BC6-4E9E-9F62-101B2FD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0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QC</a:t>
            </a:r>
          </a:p>
        </p:txBody>
      </p:sp>
      <p:cxnSp>
        <p:nvCxnSpPr>
          <p:cNvPr id="72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76450" y="15097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374151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91000" y="15097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374151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05550" y="15097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374151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20100" y="15097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7EDAB-7791-4582-AC7B-062DEE5A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Workspace-Bench-Lite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7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(EN split)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13C51-2403-4651-81C1-085EF943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sha256 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F0CAD-6873-41BD-B65E-162E90B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100 tasks / 5 personas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4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493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C7B1B-3D66-4F6A-BA5A-70444FAF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123950"/>
            <a:ext cx="15240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78D60-999C-444B-9356-5504F908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123950"/>
            <a:ext cx="47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4A6AB-A8E5-4FC7-BE71-B0A0D9E2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171575"/>
            <a:ext cx="409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3B82F6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F93A0-FC36-4075-9939-48C9A902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71575"/>
            <a:ext cx="933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493 docs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F191D-4EA7-40FD-8E0A-DAB48413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47800"/>
            <a:ext cx="15240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616B1-A9E6-4E1E-9D4C-98E3B5A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47800"/>
            <a:ext cx="47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89959-524A-449F-B569-1F5BC04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495425"/>
            <a:ext cx="409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BEA93-18F7-41CC-8DB7-A384CBB5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495425"/>
            <a:ext cx="933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207 views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CAF39F-6EF9-4309-A5BA-A7C36FF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71650"/>
            <a:ext cx="15240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3D040-882E-41C7-BC4C-D894107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71650"/>
            <a:ext cx="47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21D57-9CA4-47FB-B859-559BD237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19275"/>
            <a:ext cx="409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F38D2-0B27-47EE-A9D7-A857750C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19275"/>
            <a:ext cx="933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1,438 edges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9144E-F39B-4CD0-BDEB-BE1D7BAB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8122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81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SOP metadata: 5 skills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1CA097-6914-4FC8-9DCC-38B6321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144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rubric numbers -&gt; gold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1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edges -&gt; required files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1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DuckDB aggregate -&gt; cross_surface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1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self-verified by query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BC168B-4C6A-4592-9D9D-B294EED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24050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0F6C7D-AE4A-43AC-B5C0-9434158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50792-8AC0-4D7F-9209-9862ED1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621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C9B740-BD7E-4E6F-ACE7-5AC4514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73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73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gold = query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3FFC7-B559-4F7E-8CED-6FE87C60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85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~150 tasks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A0C60B-64D5-4466-B0FD-F859501C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171575"/>
            <a:ext cx="685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proposes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question + SQL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C0C5FB-2014-4877-A25B-3713E87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171575"/>
            <a:ext cx="685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we verify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execute query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3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or span check</a:t>
            </a:r>
          </a:p>
        </p:txBody>
      </p:sp>
      <p:cxnSp>
        <p:nvCxnSpPr>
          <p:cNvPr id="10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439025" y="14668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7415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C5DD1-E510-46C8-B450-4302802E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DF001-7233-48EC-ADC2-ABD12906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D0FC42-6732-48C9-B6A1-E693619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621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B021A1-56CC-48D0-A838-A07D281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812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73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73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gold traced to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F33AED-9F5B-4B13-B87E-095C245A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479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85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+~380 tasks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EB090B-8DCF-4631-B266-DD4FEBB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144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84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dedup + schema validation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6A4A32-EE65-4095-AE3B-C3663AF1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381125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534 atomic tasks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FE39DB-FD14-41DF-9BBE-DDAF1716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14525"/>
            <a:ext cx="12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rag_only:       161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table_only:     114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graph_only:      99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cross_surface:  160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765" b="0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(29 abstain)</a:t>
            </a:r>
          </a:p>
        </p:txBody>
      </p:sp>
      <p:sp>
        <p:nvSpPr>
          <p:cNvPr id="54" name="gold-traceability-band">
            <a:extLst xmlns:a="http://schemas.openxmlformats.org/drawingml/2006/main">
              <a:ext uri="{FF2B5EF4-FFF2-40B4-BE49-F238E27FC236}">
                <a16:creationId xmlns:a16="http://schemas.microsoft.com/office/drawing/2014/main" id="{C2D75C42-9CCA-49A3-914E-3614F269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09875"/>
            <a:ext cx="1024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335963-9011-4E6B-9E37-2F5A0D39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65" b="1" i="0">
                <a:solidFill>
                  <a:srgbClr val="1E3A8A"/>
                </a:solidFill>
                <a:latin typeface="Arial"/>
                <a:ea typeface="Arial"/>
                <a:cs typeface="Arial"/>
              </a:defRPr>
            </a:pPr>
            <a:r>
              <a:rPr sz="1065" b="1" i="0">
                <a:solidFill>
                  <a:srgbClr val="1E3A8A"/>
                </a:solidFill>
                <a:latin typeface="Arial"/>
                <a:ea typeface="Arial"/>
                <a:cs typeface="Arial"/>
              </a:rPr>
              <a:t>Every gold answer traces to an executed query result or a verbatim document span - no synthesized facts.</a:t>
            </a:r>
          </a:p>
        </p:txBody>
      </p:sp>
    </p:spTree>
    <p:extLst>
      <p:ext uri="{BB962C8B-B14F-4D97-AF65-F5344CB8AC3E}">
        <p14:creationId xmlns:p14="http://schemas.microsoft.com/office/powerpoint/2010/main" val="1824511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2026-07-10T09:07:14.2500000Z</dcterms:created>
  <dcterms:modified xsi:type="dcterms:W3CDTF">2026-07-10T09:07:14.2500000Z</dcterms:modified>
</coreProperties>
</file>