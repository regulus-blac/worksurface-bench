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633232bf1e456d" /><Relationship Type="http://schemas.openxmlformats.org/officeDocument/2006/relationships/extended-properties" Target="/docProps/app.xml" Id="Rf9091d49754c4868" /><Relationship Type="http://schemas.openxmlformats.org/officeDocument/2006/relationships/officeDocument" Target="/ppt/presentation.xml" Id="Ra699a030655c4b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fc90b5b8324888"/>
  </p:sldMasterIdLst>
  <p:notesMasterIdLst>
    <p:notesMasterId xmlns:r="http://schemas.openxmlformats.org/officeDocument/2006/relationships" r:id="R08326920de4c4a54"/>
  </p:notesMasterIdLst>
  <p:sldIdLst>
    <p:sldId xmlns:r="http://schemas.openxmlformats.org/officeDocument/2006/relationships" id="256" r:id="R480abbcad7784740"/>
    <p:sldId xmlns:r="http://schemas.openxmlformats.org/officeDocument/2006/relationships" id="257" r:id="R8512460998594772"/>
  </p:sldIdLst>
  <p:sldSz cx="10972800" cy="3429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5f0a47a3444c88" /><Relationship Type="http://schemas.openxmlformats.org/officeDocument/2006/relationships/slideMaster" Target="/ppt/slideMasters/slideMaster1.xml" Id="R4bfc90b5b8324888" /><Relationship Type="http://schemas.openxmlformats.org/officeDocument/2006/relationships/notesMaster" Target="/ppt/notesMasters/notesMaster1.xml" Id="R08326920de4c4a54" /><Relationship Type="http://schemas.openxmlformats.org/officeDocument/2006/relationships/presProps" Target="/ppt/presProps.xml" Id="R16d83c247b524518" /><Relationship Type="http://schemas.openxmlformats.org/officeDocument/2006/relationships/tableStyles" Target="/ppt/tableStyles.xml" Id="R4e1cdd42af284407" /><Relationship Type="http://schemas.openxmlformats.org/officeDocument/2006/relationships/slide" Target="/ppt/slides/slide1.xml" Id="R480abbcad7784740" /><Relationship Type="http://schemas.openxmlformats.org/officeDocument/2006/relationships/slide" Target="/ppt/slides/slide2.xml" Id="R85124609985947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b09bd715f94d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0c97becaae4adb" /><Relationship Type="http://schemas.openxmlformats.org/officeDocument/2006/relationships/notesMaster" Target="/ppt/notesMasters/notesMaster1.xml" Id="R8abe6c8a567b40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447e957a164992" /><Relationship Type="http://schemas.openxmlformats.org/officeDocument/2006/relationships/notesMaster" Target="/ppt/notesMasters/notesMaster1.xml" Id="R27eae96d1a9c43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b8a8669109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c4cfe360534bb7" /><Relationship Type="http://schemas.openxmlformats.org/officeDocument/2006/relationships/slideLayout" Target="/ppt/slideLayouts/slideLayout1.xml" Id="Rcafe0798406944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fe0798406944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6bbddcbe74a57" /><Relationship Type="http://schemas.openxmlformats.org/officeDocument/2006/relationships/notesSlide" Target="/ppt/notesSlides/notesSlide1.xml" Id="R899a7f87765e41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d1921810f4861" /><Relationship Type="http://schemas.openxmlformats.org/officeDocument/2006/relationships/notesSlide" Target="/ppt/notesSlides/notesSlide2.xml" Id="R9e286d9ea1634b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F5E672-1B72-4D9B-8C1E-33D15A41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733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C1E3E-065D-4E1F-B6FC-C0F72F15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71450"/>
            <a:ext cx="95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cientific-question-out">
            <a:extLst xmlns:a="http://schemas.openxmlformats.org/drawingml/2006/main">
              <a:ext uri="{FF2B5EF4-FFF2-40B4-BE49-F238E27FC236}">
                <a16:creationId xmlns:a16="http://schemas.microsoft.com/office/drawing/2014/main" id="{08B7EAB6-7620-4785-97AD-89CEC25F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547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scientific-task-in">
            <a:extLst xmlns:a="http://schemas.openxmlformats.org/drawingml/2006/main">
              <a:ext uri="{FF2B5EF4-FFF2-40B4-BE49-F238E27FC236}">
                <a16:creationId xmlns:a16="http://schemas.microsoft.com/office/drawing/2014/main" id="{8A546E57-EC88-4ED1-B624-E4CFF6D8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588" y="2547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3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3471863" y="2552701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374151"/>
            </a:solidFill>
            <a:prstDash val="solid"/>
            <a:tailEnd type="triangle" w="med" len="med"/>
          </a:ln>
        </p:spPr>
      </p:cxnSp>
      <p:sp>
        <p:nvSpPr>
          <p:cNvPr id="6" name="scientific-task-out">
            <a:extLst xmlns:a="http://schemas.openxmlformats.org/drawingml/2006/main">
              <a:ext uri="{FF2B5EF4-FFF2-40B4-BE49-F238E27FC236}">
                <a16:creationId xmlns:a16="http://schemas.microsoft.com/office/drawing/2014/main" id="{2EF03929-C8F8-4FF5-9539-BAF45CF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988" y="2547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scientific-agent-in">
            <a:extLst xmlns:a="http://schemas.openxmlformats.org/drawingml/2006/main">
              <a:ext uri="{FF2B5EF4-FFF2-40B4-BE49-F238E27FC236}">
                <a16:creationId xmlns:a16="http://schemas.microsoft.com/office/drawing/2014/main" id="{29E104F2-8008-40CD-BCAA-A508D7E2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338" y="2547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5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5624513" y="2552701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374151"/>
            </a:solidFill>
            <a:prstDash val="solid"/>
            <a:tailEnd type="triangle" w="med" len="med"/>
          </a:ln>
        </p:spPr>
      </p:cxnSp>
      <p:sp>
        <p:nvSpPr>
          <p:cNvPr id="9" name="scientific-agent-out">
            <a:extLst xmlns:a="http://schemas.openxmlformats.org/drawingml/2006/main">
              <a:ext uri="{FF2B5EF4-FFF2-40B4-BE49-F238E27FC236}">
                <a16:creationId xmlns:a16="http://schemas.microsoft.com/office/drawing/2014/main" id="{27776AD4-1ECB-4662-9AC2-006C5F36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788" y="2547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scientific-score-in">
            <a:extLst xmlns:a="http://schemas.openxmlformats.org/drawingml/2006/main">
              <a:ext uri="{FF2B5EF4-FFF2-40B4-BE49-F238E27FC236}">
                <a16:creationId xmlns:a16="http://schemas.microsoft.com/office/drawing/2014/main" id="{587B5156-CABE-4877-8598-34E3DBA4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5288" y="25479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8" name=""/>
          <p:cNvCxnSpPr>
            <a:stCxn xmlns:a="http://schemas.openxmlformats.org/drawingml/2006/main" id="9" idx="6"/>
            <a:endCxn xmlns:a="http://schemas.openxmlformats.org/drawingml/2006/main" id="10" idx="2"/>
          </p:cNvCxnSpPr>
          <p:nvPr/>
        </p:nvCxnSpPr>
        <p:spPr>
          <a:xfrm xmlns:a="http://schemas.openxmlformats.org/drawingml/2006/main">
            <a:off x="7834313" y="25527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4151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60504-65CB-407D-ACCB-6F8349AF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009775"/>
            <a:ext cx="44767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cientific-agent-top">
            <a:extLst xmlns:a="http://schemas.openxmlformats.org/drawingml/2006/main">
              <a:ext uri="{FF2B5EF4-FFF2-40B4-BE49-F238E27FC236}">
                <a16:creationId xmlns:a16="http://schemas.microsoft.com/office/drawing/2014/main" id="{29DD1ED0-9582-4E93-9821-7A5181DF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22621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scientific-route-bus-center">
            <a:extLst xmlns:a="http://schemas.openxmlformats.org/drawingml/2006/main">
              <a:ext uri="{FF2B5EF4-FFF2-40B4-BE49-F238E27FC236}">
                <a16:creationId xmlns:a16="http://schemas.microsoft.com/office/drawing/2014/main" id="{EA505768-F16F-465A-8CB7-6B930155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2005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2" name=""/>
          <p:cNvCxnSpPr>
            <a:stCxn xmlns:a="http://schemas.openxmlformats.org/drawingml/2006/main" id="13" idx="0"/>
            <a:endCxn xmlns:a="http://schemas.openxmlformats.org/drawingml/2006/main" id="14" idx="4"/>
          </p:cNvCxnSpPr>
          <p:nvPr/>
        </p:nvCxnSpPr>
        <p:spPr>
          <a:xfrm xmlns:a="http://schemas.openxmlformats.org/drawingml/2006/main" flipV="1">
            <a:off x="7181851" y="2014538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74151"/>
            </a:solidFill>
            <a:prstDash val="solid"/>
          </a:ln>
        </p:spPr>
      </p:cxnSp>
      <p:sp>
        <p:nvSpPr>
          <p:cNvPr id="16" name="scientific-route-bus-0">
            <a:extLst xmlns:a="http://schemas.openxmlformats.org/drawingml/2006/main">
              <a:ext uri="{FF2B5EF4-FFF2-40B4-BE49-F238E27FC236}">
                <a16:creationId xmlns:a16="http://schemas.microsoft.com/office/drawing/2014/main" id="{194BD86B-F6DC-440D-8217-FF2D65FC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713" y="2005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scientific-surface-in-0">
            <a:extLst xmlns:a="http://schemas.openxmlformats.org/drawingml/2006/main">
              <a:ext uri="{FF2B5EF4-FFF2-40B4-BE49-F238E27FC236}">
                <a16:creationId xmlns:a16="http://schemas.microsoft.com/office/drawing/2014/main" id="{9E5B3BD3-B552-4845-A72B-E6583F6D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8713" y="18240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5" name=""/>
          <p:cNvCxnSpPr>
            <a:stCxn xmlns:a="http://schemas.openxmlformats.org/drawingml/2006/main" id="16" idx="0"/>
            <a:endCxn xmlns:a="http://schemas.openxmlformats.org/drawingml/2006/main" id="17" idx="4"/>
          </p:cNvCxnSpPr>
          <p:nvPr/>
        </p:nvCxnSpPr>
        <p:spPr>
          <a:xfrm xmlns:a="http://schemas.openxmlformats.org/drawingml/2006/main" flipV="1">
            <a:off x="4943476" y="1833563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4A3B8"/>
            </a:solidFill>
            <a:prstDash val="solid"/>
            <a:tailEnd type="triangle" w="sm" len="sm"/>
          </a:ln>
        </p:spPr>
      </p:cxnSp>
      <p:sp>
        <p:nvSpPr>
          <p:cNvPr id="19" name="scientific-route-bus-1">
            <a:extLst xmlns:a="http://schemas.openxmlformats.org/drawingml/2006/main">
              <a:ext uri="{FF2B5EF4-FFF2-40B4-BE49-F238E27FC236}">
                <a16:creationId xmlns:a16="http://schemas.microsoft.com/office/drawing/2014/main" id="{50D14C76-01A9-4E0B-94E9-2C45A8B2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2005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scientific-surface-in-1">
            <a:extLst xmlns:a="http://schemas.openxmlformats.org/drawingml/2006/main">
              <a:ext uri="{FF2B5EF4-FFF2-40B4-BE49-F238E27FC236}">
                <a16:creationId xmlns:a16="http://schemas.microsoft.com/office/drawing/2014/main" id="{805D7408-1FE9-4E11-A5B1-3A861EC1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7088" y="18240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48" name=""/>
          <p:cNvCxnSpPr>
            <a:stCxn xmlns:a="http://schemas.openxmlformats.org/drawingml/2006/main" id="19" idx="0"/>
            <a:endCxn xmlns:a="http://schemas.openxmlformats.org/drawingml/2006/main" id="20" idx="4"/>
          </p:cNvCxnSpPr>
          <p:nvPr/>
        </p:nvCxnSpPr>
        <p:spPr>
          <a:xfrm xmlns:a="http://schemas.openxmlformats.org/drawingml/2006/main" flipV="1">
            <a:off x="7181851" y="1833563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4A3B8"/>
            </a:solidFill>
            <a:prstDash val="solid"/>
            <a:tailEnd type="triangle" w="sm" len="sm"/>
          </a:ln>
        </p:spPr>
      </p:cxnSp>
      <p:sp>
        <p:nvSpPr>
          <p:cNvPr id="22" name="scientific-route-bus-2">
            <a:extLst xmlns:a="http://schemas.openxmlformats.org/drawingml/2006/main">
              <a:ext uri="{FF2B5EF4-FFF2-40B4-BE49-F238E27FC236}">
                <a16:creationId xmlns:a16="http://schemas.microsoft.com/office/drawing/2014/main" id="{FC96CC61-B827-4F02-A27E-F9807188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2005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scientific-surface-in-2">
            <a:extLst xmlns:a="http://schemas.openxmlformats.org/drawingml/2006/main">
              <a:ext uri="{FF2B5EF4-FFF2-40B4-BE49-F238E27FC236}">
                <a16:creationId xmlns:a16="http://schemas.microsoft.com/office/drawing/2014/main" id="{FF73CF62-96F5-42F0-9A87-3B66AD8B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18240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1" name=""/>
          <p:cNvCxnSpPr>
            <a:stCxn xmlns:a="http://schemas.openxmlformats.org/drawingml/2006/main" id="22" idx="0"/>
            <a:endCxn xmlns:a="http://schemas.openxmlformats.org/drawingml/2006/main" id="23" idx="4"/>
          </p:cNvCxnSpPr>
          <p:nvPr/>
        </p:nvCxnSpPr>
        <p:spPr>
          <a:xfrm xmlns:a="http://schemas.openxmlformats.org/drawingml/2006/main" flipV="1">
            <a:off x="9420226" y="1833563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4A3B8"/>
            </a:solidFill>
            <a:prstDash val="solid"/>
            <a:tailEnd type="triangle" w="sm" len="sm"/>
          </a:ln>
        </p:spPr>
      </p:cxnSp>
      <p:sp>
        <p:nvSpPr>
          <p:cNvPr id="25" name="scientific-file-0">
            <a:extLst xmlns:a="http://schemas.openxmlformats.org/drawingml/2006/main">
              <a:ext uri="{FF2B5EF4-FFF2-40B4-BE49-F238E27FC236}">
                <a16:creationId xmlns:a16="http://schemas.microsoft.com/office/drawing/2014/main" id="{35C6D540-D7A8-47AF-8535-6A30844B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3" y="10048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scientific-file-1">
            <a:extLst xmlns:a="http://schemas.openxmlformats.org/drawingml/2006/main">
              <a:ext uri="{FF2B5EF4-FFF2-40B4-BE49-F238E27FC236}">
                <a16:creationId xmlns:a16="http://schemas.microsoft.com/office/drawing/2014/main" id="{7D2EAF1F-95C8-42DA-A225-4E0442F7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3" y="9001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7" name="scientific-file-2">
            <a:extLst xmlns:a="http://schemas.openxmlformats.org/drawingml/2006/main">
              <a:ext uri="{FF2B5EF4-FFF2-40B4-BE49-F238E27FC236}">
                <a16:creationId xmlns:a16="http://schemas.microsoft.com/office/drawing/2014/main" id="{77C11EA9-0AF3-4DF5-8A81-9F2588EF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10144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scientific-file-3">
            <a:extLst xmlns:a="http://schemas.openxmlformats.org/drawingml/2006/main">
              <a:ext uri="{FF2B5EF4-FFF2-40B4-BE49-F238E27FC236}">
                <a16:creationId xmlns:a16="http://schemas.microsoft.com/office/drawing/2014/main" id="{F56A1B16-70CF-4317-9217-3099D6D6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3" y="16049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scientific-file-4">
            <a:extLst xmlns:a="http://schemas.openxmlformats.org/drawingml/2006/main">
              <a:ext uri="{FF2B5EF4-FFF2-40B4-BE49-F238E27FC236}">
                <a16:creationId xmlns:a16="http://schemas.microsoft.com/office/drawing/2014/main" id="{0D76B8FB-1251-4E6E-A6F6-4FF261D4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15287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scientific-file-5">
            <a:extLst xmlns:a="http://schemas.openxmlformats.org/drawingml/2006/main">
              <a:ext uri="{FF2B5EF4-FFF2-40B4-BE49-F238E27FC236}">
                <a16:creationId xmlns:a16="http://schemas.microsoft.com/office/drawing/2014/main" id="{542DC534-0E38-4FF0-9013-9E0555D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413" y="16240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8" name=""/>
          <p:cNvCxnSpPr>
            <a:stCxn xmlns:a="http://schemas.openxmlformats.org/drawingml/2006/main" id="25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V="1">
            <a:off x="738188" y="904876"/>
            <a:ext cx="88582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7D2E0"/>
            </a:solidFill>
            <a:prstDash val="dash"/>
          </a:ln>
        </p:spPr>
      </p:cxnSp>
      <p:cxnSp>
        <p:nvCxnSpPr>
          <p:cNvPr id="159" name=""/>
          <p:cNvCxnSpPr>
            <a:stCxn xmlns:a="http://schemas.openxmlformats.org/drawingml/2006/main" id="26" idx="6"/>
            <a:endCxn xmlns:a="http://schemas.openxmlformats.org/drawingml/2006/main" id="27" idx="2"/>
          </p:cNvCxnSpPr>
          <p:nvPr/>
        </p:nvCxnSpPr>
        <p:spPr>
          <a:xfrm xmlns:a="http://schemas.openxmlformats.org/drawingml/2006/main">
            <a:off x="1633538" y="904876"/>
            <a:ext cx="115252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7D2E0"/>
            </a:solidFill>
            <a:prstDash val="dash"/>
          </a:ln>
        </p:spPr>
      </p:cxnSp>
      <p:cxnSp>
        <p:nvCxnSpPr>
          <p:cNvPr id="160" name=""/>
          <p:cNvCxnSpPr>
            <a:stCxn xmlns:a="http://schemas.openxmlformats.org/drawingml/2006/main" id="25" idx="5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736793" y="1013018"/>
            <a:ext cx="259965" cy="59334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7D2E0"/>
            </a:solidFill>
            <a:prstDash val="dash"/>
          </a:ln>
        </p:spPr>
      </p:cxnSp>
      <p:cxnSp>
        <p:nvCxnSpPr>
          <p:cNvPr id="161" name=""/>
          <p:cNvCxnSpPr>
            <a:stCxn xmlns:a="http://schemas.openxmlformats.org/drawingml/2006/main" id="26" idx="5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1632143" y="908243"/>
            <a:ext cx="317115" cy="62191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7D2E0"/>
            </a:solidFill>
            <a:prstDash val="dash"/>
          </a:ln>
        </p:spPr>
      </p:cxnSp>
      <p:cxnSp>
        <p:nvCxnSpPr>
          <p:cNvPr id="162" name=""/>
          <p:cNvCxnSpPr>
            <a:stCxn xmlns:a="http://schemas.openxmlformats.org/drawingml/2006/main" id="27" idx="4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2790826" y="1023938"/>
            <a:ext cx="13335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7D2E0"/>
            </a:solidFill>
            <a:prstDash val="dash"/>
          </a:ln>
        </p:spPr>
      </p:cxnSp>
      <p:cxnSp>
        <p:nvCxnSpPr>
          <p:cNvPr id="163" name=""/>
          <p:cNvCxnSpPr>
            <a:stCxn xmlns:a="http://schemas.openxmlformats.org/drawingml/2006/main" id="28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1004888" y="1533526"/>
            <a:ext cx="942975" cy="7620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7D2E0"/>
            </a:solidFill>
            <a:prstDash val="dash"/>
          </a:ln>
        </p:spPr>
      </p:cxnSp>
      <p:cxnSp>
        <p:nvCxnSpPr>
          <p:cNvPr id="164" name=""/>
          <p:cNvCxnSpPr>
            <a:stCxn xmlns:a="http://schemas.openxmlformats.org/drawingml/2006/main" id="29" idx="6"/>
            <a:endCxn xmlns:a="http://schemas.openxmlformats.org/drawingml/2006/main" id="30" idx="2"/>
          </p:cNvCxnSpPr>
          <p:nvPr/>
        </p:nvCxnSpPr>
        <p:spPr>
          <a:xfrm xmlns:a="http://schemas.openxmlformats.org/drawingml/2006/main">
            <a:off x="1957388" y="1533526"/>
            <a:ext cx="962025" cy="95250"/>
          </a:xfrm>
          <a:prstGeom xmlns:a="http://schemas.openxmlformats.org/drawingml/2006/main" prst="straightConnector1">
            <a:avLst/>
          </a:prstGeom>
          <a:ln xmlns:a="http://schemas.openxmlformats.org/drawingml/2006/main" w="10954">
            <a:solidFill>
              <a:srgbClr val="C7D2E0"/>
            </a:solidFill>
            <a:prstDash val="dash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296BAD-925A-40B1-B56A-90D7970B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Enterprise workspace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5F2851-F3B5-45B7-B949-CA62F349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85775"/>
            <a:ext cx="2667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heterogeneous files and dependencies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03F9E4-77D9-49EA-81EC-41152780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WorkSurface-Bench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91F004-8632-428B-9430-E8C89C3E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5775"/>
            <a:ext cx="2857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three canonical, queryable surfaces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245279-185E-4B65-89FA-C274C8AE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90575"/>
            <a:ext cx="47625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CCC0A6-06D1-42C5-B34F-9C3B6829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90575"/>
            <a:ext cx="476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8F5CE9-9132-4CC3-BE2B-136535DA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94297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692EC2-0696-4466-AB7B-0B25AEC3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019175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02C740-DF5A-4929-86E9-AE7B9BE6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361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BAA0816-8355-4B62-8D45-96138B7C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85800"/>
            <a:ext cx="47625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D1E138-CE5A-4520-BBE5-DF3B4073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85800"/>
            <a:ext cx="476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E379E1-BF7B-4D27-BF71-54D7B332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885825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B4AEA6-9A7A-4DB7-A3F8-F0254603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819150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2387B0-C1D8-4E6F-8018-35D8449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962025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86933F-F4BD-45FD-89C1-3F313C9D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19150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F679C4-D35A-4147-8F01-25EC5904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962025"/>
            <a:ext cx="361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90A144-27C7-4DF0-BD96-82D1B6DB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00100"/>
            <a:ext cx="47625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CD6F60-F33F-4A83-B907-CEF9F345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800100"/>
            <a:ext cx="476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A069CA-5151-4B97-9875-D7BD7741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9429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25AA2B-7124-45A8-A374-17A2B6C9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076325"/>
            <a:ext cx="361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REF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081A987-691A-4F87-ABE7-C97D79EB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47625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E8612D-53B8-4DB7-A5C3-03C693B3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476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F67A18-5C95-48D1-BE16-F80215A7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8F6E02D-32BF-49D9-93DB-A7CAE220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ECF0A6-29A7-4906-9BAC-12BA5604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361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F6C7D8-1477-4608-9D41-7F9BFFFE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24000"/>
            <a:ext cx="95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193DB47-94B8-4D33-A50B-22530744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361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CSV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D8640B-A95D-4626-8DF9-CE3A3D51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14450"/>
            <a:ext cx="47625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3A06124-CE3A-4B82-8736-659BB3F1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14450"/>
            <a:ext cx="476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C898ACC-9041-4CCC-BF13-B19FC60E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4668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A5040D5-76C2-4676-A5C3-3EF1155E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543050"/>
            <a:ext cx="276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EBCB7B1-C8EF-4A8C-8200-D11AA911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590675"/>
            <a:ext cx="361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DF6EA21-D8C2-40FF-9B15-390DA949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09700"/>
            <a:ext cx="47625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DAF8D5-A4B4-4D90-AE75-FFCD1267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409700"/>
            <a:ext cx="476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94A3B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3F11E5A-5DB3-4745-B449-79227BBB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5525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B34B726-B450-4EE0-AF68-91CB11F8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361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4748B"/>
                </a:solidFill>
                <a:latin typeface="Arial"/>
                <a:ea typeface="Arial"/>
                <a:cs typeface="Arial"/>
              </a:rPr>
              <a:t>REF</a:t>
            </a:r>
          </a:p>
        </p:txBody>
      </p:sp>
      <p:sp>
        <p:nvSpPr>
          <p:cNvPr id="74" name="scientific-workflow-question">
            <a:extLst xmlns:a="http://schemas.openxmlformats.org/drawingml/2006/main">
              <a:ext uri="{FF2B5EF4-FFF2-40B4-BE49-F238E27FC236}">
                <a16:creationId xmlns:a16="http://schemas.microsoft.com/office/drawing/2014/main" id="{A59B29F4-2D16-45C2-ABC0-C103DE02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38350"/>
            <a:ext cx="323850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BD5E1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00A6BC-025C-4A27-8FFD-F01DB964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38350"/>
            <a:ext cx="38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7F9979-6CC2-4D75-A750-BA86D3E8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336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B82F6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B82F6"/>
                </a:solidFill>
                <a:latin typeface="Arial"/>
                <a:ea typeface="Arial"/>
                <a:cs typeface="Arial"/>
              </a:rPr>
              <a:t>Workflow question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ECD7B2F-BF04-4EF0-AD50-7C5CF9EC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52675"/>
            <a:ext cx="2914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28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2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According to the inventory report,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8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2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how many items have negative variance?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28" b="0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28" b="0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What is their total cost by shipping mode?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B319B4-7F03-4379-B8CF-57E7BFD2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247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15" b="1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15" b="1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one question  |  multiple surfaces</a:t>
            </a:r>
          </a:p>
        </p:txBody>
      </p:sp>
      <p:sp>
        <p:nvSpPr>
          <p:cNvPr id="79" name="scientific-surface-rag">
            <a:extLst xmlns:a="http://schemas.openxmlformats.org/drawingml/2006/main">
              <a:ext uri="{FF2B5EF4-FFF2-40B4-BE49-F238E27FC236}">
                <a16:creationId xmlns:a16="http://schemas.microsoft.com/office/drawing/2014/main" id="{678AE45A-92AD-4610-9A15-19B570B4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00100"/>
            <a:ext cx="200025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4E2F38-6CAD-44F0-8513-F0AB47C9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001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6AC0C9-B09A-42EF-99CE-94D88A07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009650"/>
            <a:ext cx="247650" cy="3048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B82F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0738ACC-E694-4709-B2F6-07850544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095375"/>
            <a:ext cx="152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2829ED-BE7D-465E-AA11-56553CB5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162050"/>
            <a:ext cx="133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CA53794-2A1D-4B51-9409-E4DDE60D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228725"/>
            <a:ext cx="1047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F691FFD-CD90-4735-B19F-39619D89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9620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B82F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B82F6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1E442B-A7F8-4A56-8AA4-ED28D480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2287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35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1035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kb_search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646EAB5-AF7C-4A05-9466-2B7D48E4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43050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documents  |  canonical text</a:t>
            </a:r>
          </a:p>
        </p:txBody>
      </p:sp>
      <p:sp>
        <p:nvSpPr>
          <p:cNvPr id="88" name="scientific-surface-table">
            <a:extLst xmlns:a="http://schemas.openxmlformats.org/drawingml/2006/main">
              <a:ext uri="{FF2B5EF4-FFF2-40B4-BE49-F238E27FC236}">
                <a16:creationId xmlns:a16="http://schemas.microsoft.com/office/drawing/2014/main" id="{966BBA5E-C9E6-43ED-91DD-2ADFBBF0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800100"/>
            <a:ext cx="200025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DC314FF-BA08-40BD-99D4-5F08254F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8001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2884E1C-7194-4FD9-B767-3FA705AC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009650"/>
            <a:ext cx="247650" cy="3048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E9B1171-390C-4147-AF40-DFC6AE41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15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E6B840-B919-4107-9353-54B2831B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095375"/>
            <a:ext cx="95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E16BFE3-7502-410C-90D0-263ED147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162050"/>
            <a:ext cx="15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B7BEE06-7B8E-4E25-97B3-6A8CFAA1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095375"/>
            <a:ext cx="95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903F107-E26E-4C37-A111-EAC75871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228725"/>
            <a:ext cx="15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F5EE608-2647-4571-944A-BE753073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095375"/>
            <a:ext cx="952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FB5E73B-04DC-482F-BBED-9E4C43BF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9620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94CAD2E-A926-4D42-90A3-F347055F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287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35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1035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table_query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A462DB9-2595-4C8E-8B22-876F8EB3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543050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DuckDB views  |  task registry</a:t>
            </a:r>
          </a:p>
        </p:txBody>
      </p:sp>
      <p:sp>
        <p:nvSpPr>
          <p:cNvPr id="100" name="scientific-surface-graph">
            <a:extLst xmlns:a="http://schemas.openxmlformats.org/drawingml/2006/main">
              <a:ext uri="{FF2B5EF4-FFF2-40B4-BE49-F238E27FC236}">
                <a16:creationId xmlns:a16="http://schemas.microsoft.com/office/drawing/2014/main" id="{0E56500C-B513-4C0D-A72D-003F4DCF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00100"/>
            <a:ext cx="2000250" cy="10287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05F60C6-4130-4EF7-9912-16DDF81B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001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D05C3A1-9EFA-4AFF-AC99-1152C0F6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076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4E33BF6-52FE-4065-82A7-9CECB3F4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4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AEA4860-2926-4434-820C-060989F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219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cxnSp>
        <p:nvCxnSpPr>
          <p:cNvPr id="232" name=""/>
          <p:cNvCxnSpPr>
            <a:stCxn xmlns:a="http://schemas.openxmlformats.org/drawingml/2006/main" id="102" idx="6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8696325" y="1085850"/>
            <a:ext cx="666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0B981"/>
            </a:solidFill>
            <a:prstDash val="solid"/>
          </a:ln>
        </p:spPr>
      </p:cxnSp>
      <p:cxnSp>
        <p:nvCxnSpPr>
          <p:cNvPr id="233" name=""/>
          <p:cNvCxnSpPr>
            <a:stCxn xmlns:a="http://schemas.openxmlformats.org/drawingml/2006/main" id="103" idx="4"/>
            <a:endCxn xmlns:a="http://schemas.openxmlformats.org/drawingml/2006/main" id="104" idx="0"/>
          </p:cNvCxnSpPr>
          <p:nvPr/>
        </p:nvCxnSpPr>
        <p:spPr>
          <a:xfrm xmlns:a="http://schemas.openxmlformats.org/drawingml/2006/main" flipH="1">
            <a:off x="8772525" y="1123950"/>
            <a:ext cx="28575" cy="95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0B981"/>
            </a:solidFill>
            <a:prstDash val="solid"/>
          </a:ln>
        </p:spPr>
      </p:cxnSp>
      <p:cxnSp>
        <p:nvCxnSpPr>
          <p:cNvPr id="234" name=""/>
          <p:cNvCxnSpPr>
            <a:stCxn xmlns:a="http://schemas.openxmlformats.org/drawingml/2006/main" id="102" idx="5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8685166" y="1141366"/>
            <a:ext cx="60418" cy="88993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10B981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1E36641-AE03-4EBA-AAC1-200DB51D4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9620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F1BDF57-E387-4C61-A248-B06421D8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2287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1035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defRPr>
            </a:pPr>
            <a:r>
              <a:rPr sz="1035" b="1" i="0">
                <a:solidFill>
                  <a:srgbClr val="374151"/>
                </a:solidFill>
                <a:latin typeface="Courier New"/>
                <a:ea typeface="Courier New"/>
                <a:cs typeface="Courier New"/>
              </a:rPr>
              <a:t>graph_*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0DD4DA-D45D-44C4-8163-4186B5EB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43050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file lineage  |  enriched edges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F6B4B4-4B21-4208-9235-3324A26B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047875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12" name="scientific-task-instance">
            <a:extLst xmlns:a="http://schemas.openxmlformats.org/drawingml/2006/main">
              <a:ext uri="{FF2B5EF4-FFF2-40B4-BE49-F238E27FC236}">
                <a16:creationId xmlns:a16="http://schemas.microsoft.com/office/drawing/2014/main" id="{C2EC0221-3F76-4526-B44F-B8F5A821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66950"/>
            <a:ext cx="167640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4A3B8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EC4D695-7BDA-4563-9F78-7B766C45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47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0478">
            <a:solidFill>
              <a:srgbClr val="3B82F6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B82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B82F6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A68E88A-680E-432B-8184-A50F18CB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3625"/>
            <a:ext cx="1104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1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1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Task instance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8AF5143-99FB-478B-8AA2-C35E8000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l">
              <a:defRPr sz="923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23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workspace query</a:t>
            </a:r>
          </a:p>
        </p:txBody>
      </p:sp>
      <p:sp>
        <p:nvSpPr>
          <p:cNvPr id="116" name="scientific-agent">
            <a:extLst xmlns:a="http://schemas.openxmlformats.org/drawingml/2006/main">
              <a:ext uri="{FF2B5EF4-FFF2-40B4-BE49-F238E27FC236}">
                <a16:creationId xmlns:a16="http://schemas.microsoft.com/office/drawing/2014/main" id="{A0DE5A06-1246-4BC0-8031-A5702487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66950"/>
            <a:ext cx="1314450" cy="571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74151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8BBBAC3-483A-4AE4-BB71-376D5B21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47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74151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F5CB355-2B02-4687-B41F-3177CC89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24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B83A042-F77B-4181-B30B-ACF79338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409825"/>
            <a:ext cx="685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335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335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120" name="scientific-route-score">
            <a:extLst xmlns:a="http://schemas.openxmlformats.org/drawingml/2006/main">
              <a:ext uri="{FF2B5EF4-FFF2-40B4-BE49-F238E27FC236}">
                <a16:creationId xmlns:a16="http://schemas.microsoft.com/office/drawing/2014/main" id="{0B1E5F88-0BFB-401E-A079-27F17F92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104775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74151"/>
            </a:solidFill>
            <a:prstDash val="solid"/>
          </a:ln>
        </p:spPr>
      </p:sp>
      <p:sp>
        <p:nvSpPr>
          <p:cNvPr id="121" name="scientific-answer-score">
            <a:extLst xmlns:a="http://schemas.openxmlformats.org/drawingml/2006/main">
              <a:ext uri="{FF2B5EF4-FFF2-40B4-BE49-F238E27FC236}">
                <a16:creationId xmlns:a16="http://schemas.microsoft.com/office/drawing/2014/main" id="{988D1C4D-F3AB-4521-B189-D96A623F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1047750" cy="6858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74151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09448139-894A-458D-9F8C-ABBCF7F6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895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Route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A203D53-E8AA-45F0-A862-B2AC593D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24125"/>
            <a:ext cx="895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6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6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surface choice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96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6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P/R/F1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D6662C5-72DA-4F06-A040-BFE1FFA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86000"/>
            <a:ext cx="895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38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91C8C98-CDCC-4358-8A35-A4DE745D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24125"/>
            <a:ext cx="8953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6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6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final answer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968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68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13D77CF-CC48-47AA-BEBE-120DDDCE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28875"/>
            <a:ext cx="209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DB8C7D0-5888-4558-B9D5-14CB897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15" b="1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15" b="1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Scored independently</a:t>
            </a:r>
          </a:p>
        </p:txBody>
      </p:sp>
    </p:spTree>
    <p:extLst>
      <p:ext uri="{BB962C8B-B14F-4D97-AF65-F5344CB8AC3E}">
        <p14:creationId xmlns:p14="http://schemas.microsoft.com/office/powerpoint/2010/main" val="330105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cientific-rail-out-0">
            <a:extLst xmlns:a="http://schemas.openxmlformats.org/drawingml/2006/main">
              <a:ext uri="{FF2B5EF4-FFF2-40B4-BE49-F238E27FC236}">
                <a16:creationId xmlns:a16="http://schemas.microsoft.com/office/drawing/2014/main" id="{30FD3FBB-F391-48E5-BC5B-D67BC5C1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3" y="585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" name="scientific-rail-in-1">
            <a:extLst xmlns:a="http://schemas.openxmlformats.org/drawingml/2006/main">
              <a:ext uri="{FF2B5EF4-FFF2-40B4-BE49-F238E27FC236}">
                <a16:creationId xmlns:a16="http://schemas.microsoft.com/office/drawing/2014/main" id="{2C72D7B3-3DF8-4BD0-B554-EFAE7AFB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5138" y="585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1" idx="6"/>
            <a:endCxn xmlns:a="http://schemas.openxmlformats.org/drawingml/2006/main" id="2" idx="2"/>
          </p:cNvCxnSpPr>
          <p:nvPr/>
        </p:nvCxnSpPr>
        <p:spPr>
          <a:xfrm xmlns:a="http://schemas.openxmlformats.org/drawingml/2006/main">
            <a:off x="1252538" y="590551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74151"/>
            </a:solidFill>
            <a:prstDash val="solid"/>
            <a:tailEnd type="triangle" w="med" len="med"/>
          </a:ln>
        </p:spPr>
      </p:cxnSp>
      <p:sp>
        <p:nvSpPr>
          <p:cNvPr id="4" name="scientific-rail-out-1">
            <a:extLst xmlns:a="http://schemas.openxmlformats.org/drawingml/2006/main">
              <a:ext uri="{FF2B5EF4-FFF2-40B4-BE49-F238E27FC236}">
                <a16:creationId xmlns:a16="http://schemas.microsoft.com/office/drawing/2014/main" id="{6DCE52E3-C191-4137-8047-F8E2ACE8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585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scientific-rail-in-2">
            <a:extLst xmlns:a="http://schemas.openxmlformats.org/drawingml/2006/main">
              <a:ext uri="{FF2B5EF4-FFF2-40B4-BE49-F238E27FC236}">
                <a16:creationId xmlns:a16="http://schemas.microsoft.com/office/drawing/2014/main" id="{E849CABE-B90D-4654-B9B4-F9ED68EE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638" y="585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3319463" y="590551"/>
            <a:ext cx="17811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74151"/>
            </a:solidFill>
            <a:prstDash val="solid"/>
            <a:tailEnd type="triangle" w="med" len="med"/>
          </a:ln>
        </p:spPr>
      </p:cxnSp>
      <p:sp>
        <p:nvSpPr>
          <p:cNvPr id="7" name="scientific-rail-out-2">
            <a:extLst xmlns:a="http://schemas.openxmlformats.org/drawingml/2006/main">
              <a:ext uri="{FF2B5EF4-FFF2-40B4-BE49-F238E27FC236}">
                <a16:creationId xmlns:a16="http://schemas.microsoft.com/office/drawing/2014/main" id="{7E259286-F4E3-4F9F-ABB9-734C95EC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5438" y="585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scientific-rail-in-3">
            <a:extLst xmlns:a="http://schemas.openxmlformats.org/drawingml/2006/main">
              <a:ext uri="{FF2B5EF4-FFF2-40B4-BE49-F238E27FC236}">
                <a16:creationId xmlns:a16="http://schemas.microsoft.com/office/drawing/2014/main" id="{61051ECD-283B-4C46-849C-D7906509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138" y="585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08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414963" y="590551"/>
            <a:ext cx="17811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74151"/>
            </a:solidFill>
            <a:prstDash val="solid"/>
            <a:tailEnd type="triangle" w="med" len="med"/>
          </a:ln>
        </p:spPr>
      </p:cxnSp>
      <p:sp>
        <p:nvSpPr>
          <p:cNvPr id="10" name="scientific-rail-out-3">
            <a:extLst xmlns:a="http://schemas.openxmlformats.org/drawingml/2006/main">
              <a:ext uri="{FF2B5EF4-FFF2-40B4-BE49-F238E27FC236}">
                <a16:creationId xmlns:a16="http://schemas.microsoft.com/office/drawing/2014/main" id="{CFD71B3C-87D1-4A0F-B9BC-01B6E61F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0938" y="585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scientific-rail-in-4">
            <a:extLst xmlns:a="http://schemas.openxmlformats.org/drawingml/2006/main">
              <a:ext uri="{FF2B5EF4-FFF2-40B4-BE49-F238E27FC236}">
                <a16:creationId xmlns:a16="http://schemas.microsoft.com/office/drawing/2014/main" id="{43806F64-9B8D-4056-BBE5-E229A2F1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663" y="5857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11" name=""/>
          <p:cNvCxnSpPr>
            <a:stCxn xmlns:a="http://schemas.openxmlformats.org/drawingml/2006/main" id="10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7510463" y="590551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74151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8349D-1F30-4709-9CD8-00172CB0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8953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0D5E7-9AE4-410F-B965-8039C4F3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953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8BE43-77FF-479F-860E-32A5F5BB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8953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C47BD-79DC-4677-9E4C-F7DC5996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895350"/>
            <a:ext cx="95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1C344-9BC7-40E9-AAE9-F384C70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" y="733425"/>
            <a:ext cx="1143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cientific-stage-number-1">
            <a:extLst xmlns:a="http://schemas.openxmlformats.org/drawingml/2006/main">
              <a:ext uri="{FF2B5EF4-FFF2-40B4-BE49-F238E27FC236}">
                <a16:creationId xmlns:a16="http://schemas.microsoft.com/office/drawing/2014/main" id="{B78EE29E-937C-49AE-92CE-845CE2F2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74151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6C8F34-5F33-4142-9F16-FC9F71FD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585" y="733425"/>
            <a:ext cx="1143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cientific-stage-number-2">
            <a:extLst xmlns:a="http://schemas.openxmlformats.org/drawingml/2006/main">
              <a:ext uri="{FF2B5EF4-FFF2-40B4-BE49-F238E27FC236}">
                <a16:creationId xmlns:a16="http://schemas.microsoft.com/office/drawing/2014/main" id="{CAEB346A-E9F6-441A-971F-9A090107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47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74151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3A84C-C217-446F-BFC1-3FEEAFA7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085" y="733425"/>
            <a:ext cx="1143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cientific-stage-number-3">
            <a:extLst xmlns:a="http://schemas.openxmlformats.org/drawingml/2006/main">
              <a:ext uri="{FF2B5EF4-FFF2-40B4-BE49-F238E27FC236}">
                <a16:creationId xmlns:a16="http://schemas.microsoft.com/office/drawing/2014/main" id="{D5673DA4-FADD-44FD-BA15-F9942444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47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74151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693668-844C-4AFC-90D5-99AF107B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85" y="733425"/>
            <a:ext cx="1143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cientific-stage-number-4">
            <a:extLst xmlns:a="http://schemas.openxmlformats.org/drawingml/2006/main">
              <a:ext uri="{FF2B5EF4-FFF2-40B4-BE49-F238E27FC236}">
                <a16:creationId xmlns:a16="http://schemas.microsoft.com/office/drawing/2014/main" id="{F499612A-D214-4290-80FE-050DE6A8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7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74151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7797C-5D89-471F-B976-4B57CECF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733425"/>
            <a:ext cx="1143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cientific-stage-number-5">
            <a:extLst xmlns:a="http://schemas.openxmlformats.org/drawingml/2006/main">
              <a:ext uri="{FF2B5EF4-FFF2-40B4-BE49-F238E27FC236}">
                <a16:creationId xmlns:a16="http://schemas.microsoft.com/office/drawing/2014/main" id="{CA84B218-31B8-4653-BFAF-57DED78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76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74151"/>
            </a:solidFill>
            <a:prstDash val="solid"/>
          </a:ln>
        </p:spPr>
        <p:txBody>
          <a:bodyPr xmlns:a="http://schemas.openxmlformats.org/drawingml/2006/main" lIns="9525" tIns="9525" rIns="9525" bIns="95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C9DBB5-C1FB-4FCF-83F8-8EFFF9C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2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36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Freeze source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CE7634-A99A-492E-87E8-8152689B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42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36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Project surfaces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3085E6-022B-41E0-A6DC-C9190D11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2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36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Derive gold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D5F1D0-42CF-4734-B0F6-B8CA31F6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428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36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Expand tasks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D94580-07D5-4254-B720-CBE3017D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42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136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6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QC &amp; release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F9FBE1-D1FF-447B-BAFC-24AA6745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00125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63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Workspace-Bench-Lite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2A95F0-6ECD-4B4C-8845-6E150B0A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47775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90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English split</a:t>
            </a:r>
          </a:p>
        </p:txBody>
      </p:sp>
      <p:sp>
        <p:nvSpPr>
          <p:cNvPr id="34" name="scientific-source-out">
            <a:extLst xmlns:a="http://schemas.openxmlformats.org/drawingml/2006/main">
              <a:ext uri="{FF2B5EF4-FFF2-40B4-BE49-F238E27FC236}">
                <a16:creationId xmlns:a16="http://schemas.microsoft.com/office/drawing/2014/main" id="{3B27D36E-11F0-4418-A070-CE4BD9B6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3" y="14335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5" name="scientific-lock-in">
            <a:extLst xmlns:a="http://schemas.openxmlformats.org/drawingml/2006/main">
              <a:ext uri="{FF2B5EF4-FFF2-40B4-BE49-F238E27FC236}">
                <a16:creationId xmlns:a16="http://schemas.microsoft.com/office/drawing/2014/main" id="{E0C48705-62E2-492B-A3F0-8D5C3FB5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3" y="15763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35" name=""/>
          <p:cNvCxnSpPr>
            <a:stCxn xmlns:a="http://schemas.openxmlformats.org/drawingml/2006/main" id="34" idx="4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95376" y="1443038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94A3B8"/>
            </a:solidFill>
            <a:prstDash val="solid"/>
            <a:tailEnd type="triangle" w="sm" len="sm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16D4FB-C6DD-4AAC-A418-A25A4A1C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1238250" cy="33337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374151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sha256 + commit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E8C51F-69FF-4FC2-9EF5-6AD61201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764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90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immutable snapshot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A64C91-86F5-4050-869C-379876F9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479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100 tasks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7396A4-492C-4E51-8668-DEB0F3CC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89560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personas  |  493 docs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1F6D64-7550-459B-9BCD-EDEFEBA7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981075"/>
            <a:ext cx="1771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82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82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Three queryable views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2F10ED-B2A2-41E1-A5B3-DDD7D321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71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73D4BF-BBC2-411B-963C-FFC7B228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333500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10" b="1" i="0">
                <a:solidFill>
                  <a:srgbClr val="3B82F6"/>
                </a:solidFill>
                <a:latin typeface="Arial"/>
                <a:ea typeface="Arial"/>
                <a:cs typeface="Arial"/>
              </a:defRPr>
            </a:pPr>
            <a:r>
              <a:rPr sz="1110" b="1" i="0">
                <a:solidFill>
                  <a:srgbClr val="3B82F6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779923-0BCF-4B9F-B0E9-F249B12F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333500"/>
            <a:ext cx="809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99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493 docs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0804A6-42C3-4678-ACD5-7E246D4B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335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303202-D202-46BB-AA38-B008D12C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695450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10" b="1" i="0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110" b="1" i="0">
                <a:solidFill>
                  <a:srgbClr val="F59E0B"/>
                </a:solidFill>
                <a:latin typeface="Arial"/>
                <a:ea typeface="Arial"/>
                <a:cs typeface="Arial"/>
              </a:rPr>
              <a:t>Table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E53A544-4FB1-497B-9D07-F180560B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695450"/>
            <a:ext cx="809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99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207 views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D37933-4B56-4267-A5CB-34B83B8E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95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D3A668B-C5CB-41DD-ADB0-39D63F3F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057400"/>
            <a:ext cx="57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110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110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Graph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D70A69D-5B5B-44B4-9244-B3F49A32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57400"/>
            <a:ext cx="809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99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1,438 edges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24F024-F75D-4EE1-85F3-E937637B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3812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5 SOP skills as metadata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6AD433-9EC2-4802-BECA-58C2E763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860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073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73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per-task route registry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37F848-B577-482D-9E90-0F8A34B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14650"/>
            <a:ext cx="16764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observable routing targets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5FC2AC-A32D-43D8-B973-74BEEDAC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981075"/>
            <a:ext cx="1771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82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82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Rules yield gold targets</a:t>
            </a:r>
          </a:p>
        </p:txBody>
      </p:sp>
      <p:sp>
        <p:nvSpPr>
          <p:cNvPr id="55" name="scientific-derive-out-0">
            <a:extLst xmlns:a="http://schemas.openxmlformats.org/drawingml/2006/main">
              <a:ext uri="{FF2B5EF4-FFF2-40B4-BE49-F238E27FC236}">
                <a16:creationId xmlns:a16="http://schemas.microsoft.com/office/drawing/2014/main" id="{FAD79242-1856-4ECD-981A-873B239B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14144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scientific-derive-in-0">
            <a:extLst xmlns:a="http://schemas.openxmlformats.org/drawingml/2006/main">
              <a:ext uri="{FF2B5EF4-FFF2-40B4-BE49-F238E27FC236}">
                <a16:creationId xmlns:a16="http://schemas.microsoft.com/office/drawing/2014/main" id="{C9BAB80E-4EA9-4EA0-8E8A-99C4083A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63" y="14144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56" name=""/>
          <p:cNvCxnSpPr>
            <a:stCxn xmlns:a="http://schemas.openxmlformats.org/drawingml/2006/main" id="55" idx="6"/>
            <a:endCxn xmlns:a="http://schemas.openxmlformats.org/drawingml/2006/main" id="56" idx="2"/>
          </p:cNvCxnSpPr>
          <p:nvPr/>
        </p:nvCxnSpPr>
        <p:spPr>
          <a:xfrm xmlns:a="http://schemas.openxmlformats.org/drawingml/2006/main">
            <a:off x="5386388" y="1419226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B981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D8E2C4-CAA0-4BD0-9DAB-20877AB7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23975"/>
            <a:ext cx="962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rubric numbers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A89A8C7-71E2-4CBE-A1D5-22AA1722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23975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998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98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60" name="scientific-derive-out-1">
            <a:extLst xmlns:a="http://schemas.openxmlformats.org/drawingml/2006/main">
              <a:ext uri="{FF2B5EF4-FFF2-40B4-BE49-F238E27FC236}">
                <a16:creationId xmlns:a16="http://schemas.microsoft.com/office/drawing/2014/main" id="{791EE0B8-4A7C-4ADF-BA72-1C259D9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17764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1" name="scientific-derive-in-1">
            <a:extLst xmlns:a="http://schemas.openxmlformats.org/drawingml/2006/main">
              <a:ext uri="{FF2B5EF4-FFF2-40B4-BE49-F238E27FC236}">
                <a16:creationId xmlns:a16="http://schemas.microsoft.com/office/drawing/2014/main" id="{543F824F-5657-4A10-81B5-EA6CF9CC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63" y="177641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1" name=""/>
          <p:cNvCxnSpPr>
            <a:stCxn xmlns:a="http://schemas.openxmlformats.org/drawingml/2006/main" id="60" idx="6"/>
            <a:endCxn xmlns:a="http://schemas.openxmlformats.org/drawingml/2006/main" id="61" idx="2"/>
          </p:cNvCxnSpPr>
          <p:nvPr/>
        </p:nvCxnSpPr>
        <p:spPr>
          <a:xfrm xmlns:a="http://schemas.openxmlformats.org/drawingml/2006/main">
            <a:off x="5386388" y="1781176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B981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B47586-5278-4AE1-80BD-E006753B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85925"/>
            <a:ext cx="962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lineage edges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F7E297B-8531-46C3-83EE-05F6CA4C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85925"/>
            <a:ext cx="6096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998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98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files</a:t>
            </a:r>
          </a:p>
        </p:txBody>
      </p:sp>
      <p:sp>
        <p:nvSpPr>
          <p:cNvPr id="65" name="scientific-derive-out-2">
            <a:extLst xmlns:a="http://schemas.openxmlformats.org/drawingml/2006/main">
              <a:ext uri="{FF2B5EF4-FFF2-40B4-BE49-F238E27FC236}">
                <a16:creationId xmlns:a16="http://schemas.microsoft.com/office/drawing/2014/main" id="{354D7528-CDDD-44AC-A179-D97CF22A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863" y="21383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scientific-derive-in-2">
            <a:extLst xmlns:a="http://schemas.openxmlformats.org/drawingml/2006/main">
              <a:ext uri="{FF2B5EF4-FFF2-40B4-BE49-F238E27FC236}">
                <a16:creationId xmlns:a16="http://schemas.microsoft.com/office/drawing/2014/main" id="{6BE428D5-B178-4B43-9222-67105298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263" y="2138363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66" name=""/>
          <p:cNvCxnSpPr>
            <a:stCxn xmlns:a="http://schemas.openxmlformats.org/drawingml/2006/main" id="65" idx="6"/>
            <a:endCxn xmlns:a="http://schemas.openxmlformats.org/drawingml/2006/main" id="66" idx="2"/>
          </p:cNvCxnSpPr>
          <p:nvPr/>
        </p:nvCxnSpPr>
        <p:spPr>
          <a:xfrm xmlns:a="http://schemas.openxmlformats.org/drawingml/2006/main">
            <a:off x="5386388" y="2143126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10B981"/>
            </a:solidFill>
            <a:prstDash val="solid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F86935E-9D2A-4B47-A2B7-749C2383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9620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90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90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SQL aggregate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B53EEB-4BE8-4646-8FC8-4727788C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609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lnSpc>
                <a:spcPct val="90000"/>
              </a:lnSpc>
              <a:buNone/>
              <a:defRPr sz="915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15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cross-</a:t>
            </a:r>
          </a:p>
          <a:p xmlns:a="http://schemas.openxmlformats.org/drawingml/2006/main">
            <a:pPr algn="r">
              <a:lnSpc>
                <a:spcPct val="90000"/>
              </a:lnSpc>
              <a:buNone/>
              <a:defRPr sz="915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15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66FBC5-60B6-4CA7-84D5-F5D0C4B3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81075"/>
            <a:ext cx="1771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82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82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LLM proposes queries / spans</a:t>
            </a:r>
          </a:p>
        </p:txBody>
      </p:sp>
      <p:sp>
        <p:nvSpPr>
          <p:cNvPr id="71" name="scientific-proposal-out">
            <a:extLst xmlns:a="http://schemas.openxmlformats.org/drawingml/2006/main">
              <a:ext uri="{FF2B5EF4-FFF2-40B4-BE49-F238E27FC236}">
                <a16:creationId xmlns:a16="http://schemas.microsoft.com/office/drawing/2014/main" id="{B2178E18-A626-4877-9F3A-21998508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538" y="167163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2" name="scientific-verification-in">
            <a:extLst xmlns:a="http://schemas.openxmlformats.org/drawingml/2006/main">
              <a:ext uri="{FF2B5EF4-FFF2-40B4-BE49-F238E27FC236}">
                <a16:creationId xmlns:a16="http://schemas.microsoft.com/office/drawing/2014/main" id="{8D8F9E41-A47E-4436-B5BA-C8122D75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8538" y="1804988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172" name=""/>
          <p:cNvCxnSpPr>
            <a:stCxn xmlns:a="http://schemas.openxmlformats.org/drawingml/2006/main" id="71" idx="4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7353301" y="1681163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0B981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EEF5CA-2A0D-485E-8E9B-A3EEC7AE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285875"/>
            <a:ext cx="15240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94A3B8"/>
            </a:solidFill>
            <a:prstDash val="dash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35" b="1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374151"/>
                </a:solidFill>
                <a:latin typeface="Arial"/>
                <a:ea typeface="Arial"/>
                <a:cs typeface="Arial"/>
              </a:rPr>
              <a:t>question + SQL / span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EE665BF-9D13-4867-89BB-3536F731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1524000" cy="409575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67A60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267A60"/>
                </a:solidFill>
                <a:latin typeface="Arial"/>
                <a:ea typeface="Arial"/>
                <a:cs typeface="Arial"/>
              </a:rPr>
              <a:t>execute query or check span</a:t>
            </a:r>
          </a:p>
        </p:txBody>
      </p:sp>
      <p:sp>
        <p:nvSpPr>
          <p:cNvPr id="76" name="scientific-verification-rule">
            <a:extLst xmlns:a="http://schemas.openxmlformats.org/drawingml/2006/main">
              <a:ext uri="{FF2B5EF4-FFF2-40B4-BE49-F238E27FC236}">
                <a16:creationId xmlns:a16="http://schemas.microsoft.com/office/drawing/2014/main" id="{150874A5-3014-4CEF-A270-3FC32BAE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40005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1430">
            <a:solidFill>
              <a:srgbClr val="10B981"/>
            </a:solidFill>
            <a:prstDash val="solid"/>
          </a:ln>
        </p:spPr>
        <p:txBody>
          <a:bodyPr xmlns:a="http://schemas.openxmlformats.org/drawingml/2006/main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defRPr sz="1028" b="1">
                <a:solidFill>
                  <a:srgbClr val="267A60"/>
                </a:solidFill>
                <a:latin typeface="Arial"/>
                <a:ea typeface="Arial"/>
                <a:cs typeface="Arial"/>
              </a:defRPr>
            </a:pPr>
            <a:r>
              <a:rPr sz="1028" b="1">
                <a:solidFill>
                  <a:srgbClr val="267A60"/>
                </a:solidFill>
                <a:latin typeface="Arial"/>
                <a:ea typeface="Arial"/>
                <a:cs typeface="Arial"/>
              </a:rPr>
              <a:t>Gold = executed query result or exact document span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F53C6F6-5BD8-434D-99A8-04DC9E9C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051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06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6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~150 deterministic tasks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8E3F745-5125-4FEC-A4C4-90D8A8FF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05125"/>
            <a:ext cx="1847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06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106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+~380 verified tasks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189DDE0-5ECC-49B4-A4D2-E1927C44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99060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deduplicate + validate schema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9A7CD8D-3899-403D-8F37-F7166467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219200"/>
            <a:ext cx="2038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013" b="0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enforce an atomic task contract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CC483CF-23D0-4340-B20A-58D72EFE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85900"/>
            <a:ext cx="83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r">
              <a:defRPr sz="2475" b="1" i="0">
                <a:solidFill>
                  <a:srgbClr val="10B981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10B981"/>
                </a:solidFill>
                <a:latin typeface="Arial"/>
                <a:ea typeface="Arial"/>
                <a:cs typeface="Arial"/>
              </a:rPr>
              <a:t>534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49CF3B7-2520-47F9-B8E6-D14816E4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6002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126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6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atomic tasks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FB0AB5D-8D02-4BC7-A23D-4A4EBB10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76450"/>
            <a:ext cx="5619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8EF35F9-E1B4-4050-A9CB-00B46D0D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05025"/>
            <a:ext cx="561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3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161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A9FD537-93FB-48D8-A760-9CFC25E5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76450"/>
            <a:ext cx="4000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D509DD1-9B4D-4070-B3D6-72595724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105025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3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1829760-04B6-42D9-BE7C-03138AC0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076450"/>
            <a:ext cx="3429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940503D-EFFC-4B8A-9A39-E3420EE1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05025"/>
            <a:ext cx="3429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3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99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33262CD-B16B-47D2-9250-5633D6C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76450"/>
            <a:ext cx="5619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7620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298EB23-DCD7-4E91-A375-5A0E0AE8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105025"/>
            <a:ext cx="561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ctr">
              <a:defRPr sz="93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3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C9B1981-338A-492E-9D22-5198DE3A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47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solidFill>
              <a:srgbClr val="3B82F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78C78A3-BEB1-4625-975E-E500E7FD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09825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RAG 161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7A55E2B-C827-4DA0-96A9-A35E39C3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479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022B416-C752-47F9-A143-E90BD4DF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409825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Table 114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19A882C-F823-451E-A984-CD275458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146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049CB4-2B08-42C2-93C9-AF5470A0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76525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Graph 99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7E3CF91-BED8-46E2-9423-D607F57B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71462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  <a:ln xmlns:a="http://schemas.openxmlformats.org/drawingml/2006/main" w="0">
            <a:solidFill>
              <a:srgbClr val="374151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2B764FE-AF22-48ED-9816-F8446A04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76525"/>
            <a:ext cx="790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74151"/>
                </a:solidFill>
                <a:latin typeface="Arial"/>
                <a:ea typeface="Arial"/>
                <a:cs typeface="Arial"/>
              </a:rPr>
              <a:t>Cross 160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512D4A8-809F-4F2B-8826-82CD22AF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289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9525" rIns="19050" bIns="9525" anchor="t"/>
          <a:lstStyle xmlns:a="http://schemas.openxmlformats.org/drawingml/2006/main"/>
          <a:p xmlns:a="http://schemas.openxmlformats.org/drawingml/2006/main">
            <a:pPr algn="ctr">
              <a:defRPr sz="953" b="0" i="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953" b="0" i="0">
                <a:solidFill>
                  <a:srgbClr val="6B7280"/>
                </a:solidFill>
                <a:latin typeface="Arial"/>
                <a:ea typeface="Arial"/>
                <a:cs typeface="Arial"/>
              </a:rPr>
              <a:t>29 abstain</a:t>
            </a:r>
          </a:p>
        </p:txBody>
      </p:sp>
    </p:spTree>
    <p:extLst>
      <p:ext uri="{BB962C8B-B14F-4D97-AF65-F5344CB8AC3E}">
        <p14:creationId xmlns:p14="http://schemas.microsoft.com/office/powerpoint/2010/main" val="6240581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2026-07-10T09:58:40.2690000Z</dcterms:created>
  <dcterms:modified xsi:type="dcterms:W3CDTF">2026-07-10T09:58:40.2690000Z</dcterms:modified>
</coreProperties>
</file>